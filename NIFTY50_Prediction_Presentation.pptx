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2" r:id="rId11"/>
    <p:sldId id="274" r:id="rId12"/>
    <p:sldId id="275" r:id="rId13"/>
    <p:sldId id="276" r:id="rId14"/>
    <p:sldId id="277" r:id="rId15"/>
    <p:sldId id="278" r:id="rId16"/>
    <p:sldId id="280" r:id="rId17"/>
    <p:sldId id="281" r:id="rId18"/>
    <p:sldId id="282" r:id="rId19"/>
    <p:sldId id="283" r:id="rId20"/>
    <p:sldId id="28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27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4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09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8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05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6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25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7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21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99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19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045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73E8"/>
                </a:solidFill>
              </a:defRPr>
            </a:pPr>
            <a:r>
              <a:t>NIFTY 50 Stock Price</a:t>
            </a:r>
          </a:p>
          <a:p>
            <a:pPr>
              <a:defRPr sz="3600" b="1">
                <a:solidFill>
                  <a:srgbClr val="1A73E8"/>
                </a:solidFill>
              </a:defRPr>
            </a:pPr>
            <a:r>
              <a:t>Prediction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A Machine Learning Based Approach Using Facebook Prophet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1. Introduction &amp; Problem Statement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2. Dataset Overview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3. Data Preprocessing &amp; Feature Engineering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4. Exploratory Data Analysis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5. System Architecture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6. Model: Facebook Prophet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7. Training &amp; Evaluation Results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8. Web Application Demo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9. 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NIFTY 50: Benchmark index of India's NSE (50 largest companies)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Challenge: Predict future OHLC prices using historical data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Approach: Facebook Prophet + Technical Indicators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10 years of data: Feb 2016 – Feb 2026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Four independent models for Open, High, Low, Close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Interactive Flask web application for predictions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Problem:</a:t>
            </a:r>
            <a:r>
              <a:rPr lang="en-US" dirty="0"/>
              <a:t>  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Design a system to forecast NIFTY 50 OHLC prices</a:t>
            </a:r>
            <a:r>
              <a:rPr lang="en-US" dirty="0"/>
              <a:t> </a:t>
            </a:r>
            <a:r>
              <a:rPr dirty="0"/>
              <a:t>for any future date using ML and deploy as a web app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endParaRPr dirty="0"/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Objectives: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Train Prophet models on 10 years of NIFTY 50 data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Achieve MAPE &lt; 1% on test data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Build user-friendly web interface with Chart.js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Support single-date &amp; range predictions with CSV 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  <a:br>
              <a:rPr lang="en-IN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879340"/>
              </p:ext>
            </p:extLst>
          </p:nvPr>
        </p:nvGraphicFramePr>
        <p:xfrm>
          <a:off x="457200" y="1879795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Total Records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2479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Date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08 February 2016 — 05 February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Latest Close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₹25,642.80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All-Time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₹26,373.20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All-Time Low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₹6,825.80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Average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₹15,317.52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Avg Daily Return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0.0536%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>
            <a:normAutofit/>
          </a:bodyPr>
          <a:lstStyle/>
          <a:p>
            <a:r>
              <a:rPr lang="en-US" dirty="0"/>
              <a:t>10-Year NIFTY 50 Close Price Trend</a:t>
            </a:r>
            <a:br>
              <a:rPr lang="en-US" dirty="0"/>
            </a:br>
            <a:r>
              <a:rPr lang="en-US" sz="2200" dirty="0"/>
              <a:t>Data from 08 February 2016 to 05 February 2026</a:t>
            </a:r>
            <a:br>
              <a:rPr lang="en-US" dirty="0"/>
            </a:b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479634" y="182880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73E8"/>
                </a:solidFill>
              </a:defRPr>
            </a:pPr>
            <a:endParaRPr dirty="0"/>
          </a:p>
        </p:txBody>
      </p:sp>
      <p:pic>
        <p:nvPicPr>
          <p:cNvPr id="4" name="Picture 3" descr="01_close_price_10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01368"/>
            <a:ext cx="7863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OHLC Prices – Last 1 Year</a:t>
            </a:r>
            <a:br>
              <a:rPr lang="en-US" dirty="0"/>
            </a:br>
            <a:r>
              <a:rPr lang="en-US" sz="2000" dirty="0"/>
              <a:t>Open, High, Low, Close daily prices</a:t>
            </a:r>
            <a:br>
              <a:rPr lang="en-US" dirty="0"/>
            </a:br>
            <a:endParaRPr dirty="0"/>
          </a:p>
        </p:txBody>
      </p:sp>
      <p:pic>
        <p:nvPicPr>
          <p:cNvPr id="4" name="Picture 3" descr="02_ohlc_1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28336"/>
            <a:ext cx="7863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Engineering</a:t>
            </a:r>
            <a:br>
              <a:rPr lang="en-IN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07546"/>
              </p:ext>
            </p:extLst>
          </p:nvPr>
        </p:nvGraphicFramePr>
        <p:xfrm>
          <a:off x="457200" y="214884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MA_5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Rolling mean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 days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Short-term trend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Rolling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Medium-term trend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MA_50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Rolling mean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50 days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Long-term trend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volatility_10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Rolling 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Market uncertainty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daily_return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% change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day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Momentum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day_range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 − 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Intraday spread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System Architecture</a:t>
            </a:r>
            <a:br>
              <a:rPr lang="en-IN" dirty="0"/>
            </a:br>
            <a:r>
              <a:rPr lang="en-IN" sz="2200" dirty="0"/>
              <a:t>End-to-end pipeline: Data → Model → Flask → User</a:t>
            </a:r>
            <a:br>
              <a:rPr lang="en-IN" dirty="0"/>
            </a:br>
            <a:endParaRPr dirty="0"/>
          </a:p>
        </p:txBody>
      </p:sp>
      <p:pic>
        <p:nvPicPr>
          <p:cNvPr id="4" name="Picture 3" descr="12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5920"/>
            <a:ext cx="7863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  <a:br>
              <a:rPr lang="en-IN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245415"/>
              </p:ext>
            </p:extLst>
          </p:nvPr>
        </p:nvGraphicFramePr>
        <p:xfrm>
          <a:off x="457200" y="1566437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Technology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Python 3.8+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Core language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Facebook Prophet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Time-series forecasting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Web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Flask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HTTP server &amp; routing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Bootstrap 5 + Chart.js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UI &amp; interactive charts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Pandas + NumPy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Processing &amp; computation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MAE, MAPE metrics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Prophet Model Configuration</a:t>
            </a:r>
            <a:br>
              <a:rPr lang="en-IN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73449"/>
              </p:ext>
            </p:extLst>
          </p:nvPr>
        </p:nvGraphicFramePr>
        <p:xfrm>
          <a:off x="571500" y="2093976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Value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daily_seasonality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False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Daily data, no intraday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weekly_seasonality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Mon-Fri trading patterns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yearly_seasonality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True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Annual market cycles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changepoint_prior_scale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Moderate trend flexibility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seasonality_prior_scale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10.0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Strong seasonal signals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Regressors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MA_5, MA_20, MA_50, vol_10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Technical indicators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>
                <a:solidFill>
                  <a:srgbClr val="1A73E8"/>
                </a:solidFill>
              </a:defRPr>
            </a:pPr>
            <a:r>
              <a:rPr lang="en-US" dirty="0"/>
              <a:t>Train / Test Data Split</a:t>
            </a:r>
            <a:br>
              <a:rPr lang="en-US" dirty="0"/>
            </a:br>
            <a:r>
              <a:rPr lang="en-US" dirty="0"/>
              <a:t>Training: 2370 samples | Test: 60 samples</a:t>
            </a:r>
            <a:br>
              <a:rPr lang="en-US" dirty="0"/>
            </a:br>
            <a:endParaRPr dirty="0"/>
          </a:p>
        </p:txBody>
      </p:sp>
      <p:pic>
        <p:nvPicPr>
          <p:cNvPr id="4" name="Picture 3" descr="10_train_test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5582"/>
            <a:ext cx="7863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Results</a:t>
            </a:r>
            <a:br>
              <a:rPr lang="en-IN" dirty="0"/>
            </a:b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442227"/>
              </p:ext>
            </p:extLst>
          </p:nvPr>
        </p:nvGraphicFramePr>
        <p:xfrm>
          <a:off x="457200" y="20116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MAE (Points)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MAPE (%)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Open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133.42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0.52%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Excellent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0.43%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141.05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0.55%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Good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139.23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rPr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Accuracy Comparison</a:t>
            </a:r>
            <a:br>
              <a:rPr lang="en-US" dirty="0"/>
            </a:br>
            <a:r>
              <a:rPr lang="en-US" sz="2200" dirty="0"/>
              <a:t>All models achieve MAPE &lt; 1% — Excellent accuracy</a:t>
            </a:r>
            <a:br>
              <a:rPr lang="en-US" dirty="0"/>
            </a:br>
            <a:endParaRPr dirty="0"/>
          </a:p>
        </p:txBody>
      </p:sp>
      <p:pic>
        <p:nvPicPr>
          <p:cNvPr id="4" name="Picture 3" descr="11_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25051"/>
            <a:ext cx="78638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Single Date Prediction — OHLC values as stat cards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Date Range Prediction — Interactive Chart.js line chart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Historical Data Page — 250-day trend with moving averages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CSV Export — One-click download of predictions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Responsive Design — Works on mobile, tablet, desktop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Client-side Validation — Input checks before submission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About Page — Methods, metrics, and tech stack details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NIFTY 50 grew from ₹6,826 to ₹26,373 in 10 years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Moving averages significantly improve Prophet accuracy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High price model achieves lowest error (MAPE 0.43%)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Volatility regressor helps during turbulent markets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Sub-1% MAPE across all targets validates the approach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Web app makes ML predictions accessible to all users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Static regressor values for future dates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No external data (news, sentiment, global events)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Accuracy degrades beyond 30-60 day horizon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Index-level only — not for individual stocks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No real-time data integration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Educational purpose — not for actual trading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Sentiment analysis from news &amp; social media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LSTM/Transformer ensemble with Prophet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Live data feeds &amp; automatic retraining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Individual stock predictions (NIFTY 50 constituents)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REST API for trading bot integration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Cloud deployment (AWS/GCP) for production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Advanced charts: Candlestick, RSI, MACD, Bollinger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Successfully built an ML-powered NIFTY 50 predictor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Prophet + technical indicators achieves &lt;1% MAPE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User-friendly Flask web app with interactive charts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Demonstrates practical ML application in finance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• Validates time-series + domain features approach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endParaRPr dirty="0"/>
          </a:p>
          <a:p>
            <a:pPr marL="0" indent="0">
              <a:spcAft>
                <a:spcPts val="600"/>
              </a:spcAft>
              <a:buNone/>
              <a:defRPr sz="1400"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[1] Taylor &amp; </a:t>
            </a:r>
            <a:r>
              <a:rPr dirty="0" err="1"/>
              <a:t>Letham</a:t>
            </a:r>
            <a:r>
              <a:rPr dirty="0"/>
              <a:t> (2018) — Forecasting at Scale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[2] NSE India — NIFTY 50 Index Data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[3] Facebook Prophet Documentation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[4] Flask Web Framework Documentation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[5] Chart.js Documentation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[6] Bootstrap 5 Documentation</a:t>
            </a:r>
          </a:p>
          <a:p>
            <a:pPr marL="0" indent="0">
              <a:spcAft>
                <a:spcPts val="600"/>
              </a:spcAft>
              <a:buNone/>
              <a:defRPr sz="1400"/>
            </a:pPr>
            <a:r>
              <a:rPr dirty="0"/>
              <a:t>[7] </a:t>
            </a:r>
            <a:r>
              <a:rPr dirty="0" err="1"/>
              <a:t>scikit</a:t>
            </a:r>
            <a:r>
              <a:rPr dirty="0"/>
              <a:t>-learn Metrics Documentation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19</TotalTime>
  <Words>857</Words>
  <Application>Microsoft Office PowerPoint</Application>
  <PresentationFormat>On-screen Show (4:3)</PresentationFormat>
  <Paragraphs>189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Rockwell</vt:lpstr>
      <vt:lpstr>Rockwell Condensed</vt:lpstr>
      <vt:lpstr>Wingdings</vt:lpstr>
      <vt:lpstr>Wood Type</vt:lpstr>
      <vt:lpstr>NIFTY 50 Stock Price Prediction System</vt:lpstr>
      <vt:lpstr>Agenda</vt:lpstr>
      <vt:lpstr>Introduction</vt:lpstr>
      <vt:lpstr>Problem Statement &amp; Objectives</vt:lpstr>
      <vt:lpstr>Dataset Overview </vt:lpstr>
      <vt:lpstr>10-Year NIFTY 50 Close Price Trend Data from 08 February 2016 to 05 February 2026 </vt:lpstr>
      <vt:lpstr>OHLC Prices – Last 1 Year Open, High, Low, Close daily prices </vt:lpstr>
      <vt:lpstr>Feature Engineering </vt:lpstr>
      <vt:lpstr>System Architecture End-to-end pipeline: Data → Model → Flask → User </vt:lpstr>
      <vt:lpstr>Technology Stack </vt:lpstr>
      <vt:lpstr>Prophet Model Configuration </vt:lpstr>
      <vt:lpstr>Train / Test Data Split Training: 2370 samples | Test: 60 samples </vt:lpstr>
      <vt:lpstr>Model Evaluation Results </vt:lpstr>
      <vt:lpstr>Model Accuracy Comparison All models achieve MAPE &lt; 1% — Excellent accuracy </vt:lpstr>
      <vt:lpstr>Web Application Features</vt:lpstr>
      <vt:lpstr>Key Findings</vt:lpstr>
      <vt:lpstr>Limitations</vt:lpstr>
      <vt:lpstr>Future Scope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50 Stock Price Prediction System</dc:title>
  <dc:subject/>
  <dc:creator>Muskan Sureka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2026-02-18T07:14:03Z</dcterms:modified>
  <cp:category/>
</cp:coreProperties>
</file>